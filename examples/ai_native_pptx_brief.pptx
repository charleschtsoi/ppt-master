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zh-HK"/>
    </a:defPPr>
    <a:lvl1pPr marL="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HK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k_committee_pap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HK" smtClean="0"/>
              <a:t>1/27/13</a:t>
            </a:fld>
            <a:endParaRPr lang="zh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HK" smtClean="0"/>
              <a:t>‹#›</a:t>
            </a:fld>
            <a:endParaRPr lang="zh-HK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k_committee_paper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HK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HK" smtClean="0"/>
              <a:t>1/27/13</a:t>
            </a:fld>
            <a:endParaRPr lang="zh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HK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HK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HK" smtClean="0"/>
              <a:t>‹#›</a:t>
            </a:fld>
            <a:endParaRPr lang="zh-H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HK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HK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HK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HK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HK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HK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3fd2d9ac28fe80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bar"/>
          <p:cNvSpPr/>
          <p:nvPr/>
        </p:nvSpPr>
        <p:spPr>
          <a:xfrm>
            <a:off x="914400" y="1676400"/>
            <a:ext cx="76200" cy="2667000"/>
          </a:xfrm>
          <a:prstGeom prst="rect">
            <a:avLst/>
          </a:prstGeom>
          <a:solidFill>
            <a:srgbClr val="B8860B"/>
          </a:solidFill>
          <a:ln>
            <a:noFill/>
          </a:ln>
        </p:spPr>
      </p:sp>
      <p:grpSp>
        <p:nvGrpSpPr>
          <p:cNvPr id="4" name="cover-kicker"/>
          <p:cNvGrpSpPr/>
          <p:nvPr/>
        </p:nvGrpSpPr>
        <p:grpSpPr>
          <a:xfrm>
            <a:off x="1213104" y="965200"/>
            <a:ext cx="1418368" cy="234696"/>
            <a:chOff x="1213104" y="965200"/>
            <a:chExt cx="1418368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1213104" y="965200"/>
              <a:ext cx="141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200" dirty="0">
                  <a:solidFill>
                    <a:srgbClr val="D5D0C8"/>
                  </a:solidFill>
                  <a:latin typeface="+mj-lt"/>
                  <a:ea typeface="+mj-ea"/>
                  <a:cs typeface="+mj-cs"/>
                </a:rPr>
                <a:t>委員會文件 · 八分鐘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1200150" y="1879600"/>
            <a:ext cx="6477000" cy="1409700"/>
            <a:chOff x="1200150" y="1879600"/>
            <a:chExt cx="6477000" cy="1409700"/>
          </a:xfrm>
        </p:grpSpPr>
        <p:sp>
          <p:nvSpPr>
            <p:cNvPr id="5" name="TextBox 5"/>
            <p:cNvSpPr txBox="1"/>
            <p:nvPr/>
          </p:nvSpPr>
          <p:spPr>
            <a:xfrm>
              <a:off x="1200150" y="1879600"/>
              <a:ext cx="64770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100"/>
                </a:lnSpc>
              </a:pPr>
              <a:r>
                <a:rPr lang="zh-HK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建議委員會於下次會議前批准</a:t>
              </a:r>
              <a:br>
                <a:rPr lang="zh-HK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HK" sz="3900" b="1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可編輯 PPTX</a:t>
              </a:r>
              <a:r>
                <a:rPr lang="zh-HK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為文件格式</a:t>
              </a:r>
            </a:p>
          </p:txBody>
        </p:sp>
      </p:grpSp>
      <p:grpSp>
        <p:nvGrpSpPr>
          <p:cNvPr id="8" name="cover-support"/>
          <p:cNvGrpSpPr/>
          <p:nvPr/>
        </p:nvGrpSpPr>
        <p:grpSpPr>
          <a:xfrm>
            <a:off x="1210818" y="3771900"/>
            <a:ext cx="9416541" cy="322707"/>
            <a:chOff x="1210818" y="3771900"/>
            <a:chExt cx="9416541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1210818" y="3771900"/>
              <a:ext cx="94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4F1EC"/>
                  </a:solidFill>
                  <a:latin typeface="+mj-lt"/>
                  <a:ea typeface="+mj-ea"/>
                  <a:cs typeface="+mj-cs"/>
                </a:rPr>
                <a:t>Recommend the Committee adopt editable PPTX as the paper format with effect from 28 October 2026</a:t>
              </a:r>
            </a:p>
          </p:txBody>
        </p:sp>
      </p:grpSp>
      <p:grpSp>
        <p:nvGrpSpPr>
          <p:cNvPr id="10" name="cover-meta"/>
          <p:cNvGrpSpPr/>
          <p:nvPr/>
        </p:nvGrpSpPr>
        <p:grpSpPr>
          <a:xfrm>
            <a:off x="1213104" y="5994400"/>
            <a:ext cx="2628102" cy="234696"/>
            <a:chOff x="1213104" y="5994400"/>
            <a:chExt cx="262810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1213104" y="5994400"/>
              <a:ext cx="2628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5D0C8"/>
                  </a:solidFill>
                  <a:latin typeface="+mj-lt"/>
                  <a:ea typeface="+mj-ea"/>
                  <a:cs typeface="+mj-cs"/>
                </a:rPr>
                <a:t>Harbour Professional · 28 October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t-rail"/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rgbClr val="123B5C"/>
          </a:solidFill>
          <a:ln>
            <a:noFill/>
          </a:ln>
        </p:spPr>
      </p:sp>
      <p:grpSp>
        <p:nvGrpSpPr>
          <p:cNvPr id="5" name="sit-header"/>
          <p:cNvGrpSpPr/>
          <p:nvPr/>
        </p:nvGrpSpPr>
        <p:grpSpPr>
          <a:xfrm>
            <a:off x="746760" y="508000"/>
            <a:ext cx="3840480" cy="1791970"/>
            <a:chOff x="746760" y="508000"/>
            <a:chExt cx="3840480" cy="1791970"/>
          </a:xfrm>
        </p:grpSpPr>
        <p:sp>
          <p:nvSpPr>
            <p:cNvPr id="3" name="TextBox 3"/>
            <p:cNvSpPr txBox="1"/>
            <p:nvPr/>
          </p:nvSpPr>
          <p:spPr>
            <a:xfrm>
              <a:off x="746760" y="508000"/>
              <a:ext cx="3840480" cy="1082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zh-HK" sz="30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螢幕截圖式簡報在會後</a:t>
              </a:r>
              <a:br>
                <a:rPr lang="zh-HK" sz="30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</a:br>
              <a:r>
                <a:rPr lang="zh-HK" sz="30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無法按委員會要求修訂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4380" y="1739900"/>
              <a:ext cx="33553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Screenshot files cannot be revised to the</a:t>
              </a:r>
              <a:b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</a:br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Committee's instructions after the meeting</a:t>
              </a:r>
            </a:p>
          </p:txBody>
        </p:sp>
      </p:grpSp>
      <p:grpSp>
        <p:nvGrpSpPr>
          <p:cNvPr id="7" name="sit-body"/>
          <p:cNvGrpSpPr/>
          <p:nvPr/>
        </p:nvGrpSpPr>
        <p:grpSpPr>
          <a:xfrm>
            <a:off x="752856" y="2616200"/>
            <a:ext cx="3001518" cy="1437894"/>
            <a:chOff x="752856" y="2616200"/>
            <a:chExt cx="3001518" cy="143789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2616200"/>
              <a:ext cx="3001518" cy="1437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  <a:t>會後秘書處須按委員意見</a:t>
              </a:r>
              <a:b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  <a:t>改字、改圖、改排序。</a:t>
              </a:r>
              <a:b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  <a:t>截圖檔只能重做，</a:t>
              </a:r>
              <a:b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1A1F24"/>
                  </a:solidFill>
                  <a:latin typeface="+mn-lt"/>
                  <a:ea typeface="+mn-ea"/>
                  <a:cs typeface="+mn-cs"/>
                </a:rPr>
                <a:t>不能在 PowerPoint 內修訂。</a:t>
              </a:r>
            </a:p>
          </p:txBody>
        </p:sp>
      </p:grpSp>
      <p:grpSp>
        <p:nvGrpSpPr>
          <p:cNvPr id="9" name="sit-takeaway"/>
          <p:cNvGrpSpPr/>
          <p:nvPr/>
        </p:nvGrpSpPr>
        <p:grpSpPr>
          <a:xfrm>
            <a:off x="755904" y="4889500"/>
            <a:ext cx="2145792" cy="463296"/>
            <a:chOff x="755904" y="4889500"/>
            <a:chExt cx="2145792" cy="463296"/>
          </a:xfrm>
        </p:grpSpPr>
        <p:sp>
          <p:nvSpPr>
            <p:cNvPr id="8" name="TextBox 8"/>
            <p:cNvSpPr txBox="1"/>
            <p:nvPr/>
          </p:nvSpPr>
          <p:spPr>
            <a:xfrm>
              <a:off x="755904" y="4889500"/>
              <a:ext cx="21457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HK" sz="1200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秘書處須修訂的是文字與形狀，</a:t>
              </a:r>
              <a:br>
                <a:rPr lang="zh-HK" sz="1200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200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截圖檔無法按委員意見改。</a:t>
              </a:r>
            </a:p>
          </p:txBody>
        </p:sp>
      </p:grpSp>
      <p:grpSp>
        <p:nvGrpSpPr>
          <p:cNvPr id="11" name="sit-photo"/>
          <p:cNvGrpSpPr/>
          <p:nvPr/>
        </p:nvGrpSpPr>
        <p:grpSpPr>
          <a:xfrm>
            <a:off x="5334000" y="0"/>
            <a:ext cx="6858000" cy="6858000"/>
            <a:chOff x="5334000" y="0"/>
            <a:chExt cx="6858000" cy="68580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33333" t="0" r="0" b="0"/>
            <a:stretch>
              <a:fillRect/>
            </a:stretch>
          </p:blipFill>
          <p:spPr>
            <a:xfrm>
              <a:off x="5334000" y="0"/>
              <a:ext cx="6858000" cy="685800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755904" y="6413500"/>
            <a:ext cx="1759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K" sz="1200" dirty="0">
                <a:solidFill>
                  <a:srgbClr val="5C6570"/>
                </a:solidFill>
                <a:latin typeface="+mj-lt"/>
                <a:ea typeface="+mj-ea"/>
                <a:cs typeface="+mj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of-rail"/>
          <p:cNvSpPr/>
          <p:nvPr/>
        </p:nvSpPr>
        <p:spPr>
          <a:xfrm>
            <a:off x="0" y="0"/>
            <a:ext cx="533400" cy="6858000"/>
          </a:xfrm>
          <a:prstGeom prst="rect">
            <a:avLst/>
          </a:prstGeom>
          <a:solidFill>
            <a:srgbClr val="123B5C"/>
          </a:solidFill>
          <a:ln>
            <a:noFill/>
          </a:ln>
        </p:spPr>
      </p:sp>
      <p:grpSp>
        <p:nvGrpSpPr>
          <p:cNvPr id="5" name="proof-header"/>
          <p:cNvGrpSpPr/>
          <p:nvPr/>
        </p:nvGrpSpPr>
        <p:grpSpPr>
          <a:xfrm>
            <a:off x="899160" y="584200"/>
            <a:ext cx="8551088" cy="957707"/>
            <a:chOff x="899160" y="584200"/>
            <a:chExt cx="8551088" cy="957707"/>
          </a:xfrm>
        </p:grpSpPr>
        <p:sp>
          <p:nvSpPr>
            <p:cNvPr id="3" name="TextBox 3"/>
            <p:cNvSpPr txBox="1"/>
            <p:nvPr/>
          </p:nvSpPr>
          <p:spPr>
            <a:xfrm>
              <a:off x="899160" y="584200"/>
              <a:ext cx="855108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30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本檔四頁均為可點選的 DrawingML 文字與形狀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6018" y="1219200"/>
              <a:ext cx="67144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All four pages in this file are selectable DrawingML, not a picture of a slide</a:t>
              </a:r>
            </a:p>
          </p:txBody>
        </p:sp>
      </p:grpSp>
      <p:grpSp>
        <p:nvGrpSpPr>
          <p:cNvPr id="7" name="proof-numeral"/>
          <p:cNvGrpSpPr/>
          <p:nvPr/>
        </p:nvGrpSpPr>
        <p:grpSpPr>
          <a:xfrm>
            <a:off x="895350" y="3111500"/>
            <a:ext cx="2259330" cy="3162300"/>
            <a:chOff x="895350" y="3111500"/>
            <a:chExt cx="2259330" cy="3162300"/>
          </a:xfrm>
        </p:grpSpPr>
        <p:sp>
          <p:nvSpPr>
            <p:cNvPr id="6" name="TextBox 6"/>
            <p:cNvSpPr txBox="1"/>
            <p:nvPr/>
          </p:nvSpPr>
          <p:spPr>
            <a:xfrm>
              <a:off x="895350" y="3111500"/>
              <a:ext cx="2259330" cy="3162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65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四</a:t>
              </a:r>
            </a:p>
          </p:txBody>
        </p:sp>
      </p:grpSp>
      <p:grpSp>
        <p:nvGrpSpPr>
          <p:cNvPr id="11" name="proof-a"/>
          <p:cNvGrpSpPr/>
          <p:nvPr/>
        </p:nvGrpSpPr>
        <p:grpSpPr>
          <a:xfrm>
            <a:off x="3810000" y="2374900"/>
            <a:ext cx="6020689" cy="712470"/>
            <a:chOff x="3810000" y="2374900"/>
            <a:chExt cx="6020689" cy="712470"/>
          </a:xfrm>
        </p:grpSpPr>
        <p:sp>
          <p:nvSpPr>
            <p:cNvPr id="8" name="Rectangle 8"/>
            <p:cNvSpPr/>
            <p:nvPr/>
          </p:nvSpPr>
          <p:spPr>
            <a:xfrm>
              <a:off x="3810000" y="2400300"/>
              <a:ext cx="76200" cy="457200"/>
            </a:xfrm>
            <a:prstGeom prst="rect">
              <a:avLst/>
            </a:prstGeom>
            <a:solidFill>
              <a:srgbClr val="B8860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05656" y="2374900"/>
              <a:ext cx="51416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8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身份為 Harbour Professional，海軍藍與暖紙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07180" y="2794000"/>
              <a:ext cx="5723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Harbour navy and warm paper, not a Mainland government template</a:t>
              </a:r>
            </a:p>
          </p:txBody>
        </p:sp>
      </p:grpSp>
      <p:grpSp>
        <p:nvGrpSpPr>
          <p:cNvPr id="15" name="proof-b"/>
          <p:cNvGrpSpPr/>
          <p:nvPr/>
        </p:nvGrpSpPr>
        <p:grpSpPr>
          <a:xfrm>
            <a:off x="3810000" y="3556000"/>
            <a:ext cx="6135658" cy="712470"/>
            <a:chOff x="3810000" y="3556000"/>
            <a:chExt cx="6135658" cy="712470"/>
          </a:xfrm>
        </p:grpSpPr>
        <p:sp>
          <p:nvSpPr>
            <p:cNvPr id="12" name="Rectangle 12"/>
            <p:cNvSpPr/>
            <p:nvPr/>
          </p:nvSpPr>
          <p:spPr>
            <a:xfrm>
              <a:off x="3810000" y="3581400"/>
              <a:ext cx="76200" cy="457200"/>
            </a:xfrm>
            <a:prstGeom prst="rect">
              <a:avLst/>
            </a:prstGeom>
            <a:solidFill>
              <a:srgbClr val="B8860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105656" y="3556000"/>
              <a:ext cx="51204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8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檔案語言為 zh-HK，Office 採用香港繁體校對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07180" y="3975100"/>
              <a:ext cx="5838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The file uses zh-HK, so Office proofs Traditional Chinese for Hong Kong</a:t>
              </a:r>
            </a:p>
          </p:txBody>
        </p:sp>
      </p:grpSp>
      <p:grpSp>
        <p:nvGrpSpPr>
          <p:cNvPr id="19" name="proof-c"/>
          <p:cNvGrpSpPr/>
          <p:nvPr/>
        </p:nvGrpSpPr>
        <p:grpSpPr>
          <a:xfrm>
            <a:off x="3810000" y="4737100"/>
            <a:ext cx="6021189" cy="712470"/>
            <a:chOff x="3810000" y="4737100"/>
            <a:chExt cx="6021189" cy="712470"/>
          </a:xfrm>
        </p:grpSpPr>
        <p:sp>
          <p:nvSpPr>
            <p:cNvPr id="16" name="Rectangle 16"/>
            <p:cNvSpPr/>
            <p:nvPr/>
          </p:nvSpPr>
          <p:spPr>
            <a:xfrm>
              <a:off x="3810000" y="4762500"/>
              <a:ext cx="76200" cy="457200"/>
            </a:xfrm>
            <a:prstGeom prst="rect">
              <a:avLst/>
            </a:prstGeom>
            <a:solidFill>
              <a:srgbClr val="B8860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05656" y="4737100"/>
              <a:ext cx="52097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800" b="1" dirty="0">
                  <a:solidFill>
                    <a:srgbClr val="123B5C"/>
                  </a:solidFill>
                  <a:latin typeface="+mn-lt"/>
                  <a:ea typeface="+mn-ea"/>
                  <a:cs typeface="+mn-cs"/>
                </a:rPr>
                <a:t>四頁輸出可在 PowerPoint 續改，無需重做截圖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07180" y="5156200"/>
              <a:ext cx="5724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C6570"/>
                  </a:solidFill>
                  <a:latin typeface="+mj-lt"/>
                  <a:ea typeface="+mj-ea"/>
                  <a:cs typeface="+mj-cs"/>
                </a:rPr>
                <a:t>All four pages stay editable in PowerPoint and do not need rebuilding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08304" y="6413500"/>
            <a:ext cx="1759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K" sz="1200" dirty="0">
                <a:solidFill>
                  <a:srgbClr val="5C6570"/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sk-bar"/>
          <p:cNvSpPr/>
          <p:nvPr/>
        </p:nvSpPr>
        <p:spPr>
          <a:xfrm>
            <a:off x="914400" y="1676400"/>
            <a:ext cx="76200" cy="2667000"/>
          </a:xfrm>
          <a:prstGeom prst="rect">
            <a:avLst/>
          </a:prstGeom>
          <a:solidFill>
            <a:srgbClr val="B8860B"/>
          </a:solidFill>
          <a:ln>
            <a:noFill/>
          </a:ln>
        </p:spPr>
      </p:sp>
      <p:grpSp>
        <p:nvGrpSpPr>
          <p:cNvPr id="4" name="ask-kicker"/>
          <p:cNvGrpSpPr/>
          <p:nvPr/>
        </p:nvGrpSpPr>
        <p:grpSpPr>
          <a:xfrm>
            <a:off x="1213104" y="965200"/>
            <a:ext cx="1256824" cy="234696"/>
            <a:chOff x="1213104" y="965200"/>
            <a:chExt cx="1256824" cy="234696"/>
          </a:xfrm>
        </p:grpSpPr>
        <p:sp>
          <p:nvSpPr>
            <p:cNvPr id="3" name="TextBox 3"/>
            <p:cNvSpPr txBox="1"/>
            <p:nvPr/>
          </p:nvSpPr>
          <p:spPr>
            <a:xfrm>
              <a:off x="1213104" y="965200"/>
              <a:ext cx="125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K" sz="1200" dirty="0">
                  <a:solidFill>
                    <a:srgbClr val="D5D0C8"/>
                  </a:solidFill>
                  <a:latin typeface="+mj-lt"/>
                  <a:ea typeface="+mj-ea"/>
                  <a:cs typeface="+mj-cs"/>
                </a:rPr>
                <a:t>建議 · 下次會議前</a:t>
              </a:r>
            </a:p>
          </p:txBody>
        </p:sp>
      </p:grpSp>
      <p:grpSp>
        <p:nvGrpSpPr>
          <p:cNvPr id="6" name="ask-title"/>
          <p:cNvGrpSpPr/>
          <p:nvPr/>
        </p:nvGrpSpPr>
        <p:grpSpPr>
          <a:xfrm>
            <a:off x="1203960" y="1803400"/>
            <a:ext cx="4459605" cy="1120140"/>
            <a:chOff x="1203960" y="1803400"/>
            <a:chExt cx="4459605" cy="1120140"/>
          </a:xfrm>
        </p:grpSpPr>
        <p:sp>
          <p:nvSpPr>
            <p:cNvPr id="5" name="TextBox 5"/>
            <p:cNvSpPr txBox="1"/>
            <p:nvPr/>
          </p:nvSpPr>
          <p:spPr>
            <a:xfrm>
              <a:off x="1203960" y="1803400"/>
              <a:ext cx="4459605" cy="1120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HK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請秘書處於下次會議前</a:t>
              </a:r>
              <a:br>
                <a:rPr lang="zh-HK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HK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按本範本產出</a:t>
              </a:r>
              <a:r>
                <a:rPr lang="zh-HK" sz="3000" b="1" dirty="0">
                  <a:solidFill>
                    <a:srgbClr val="B8860B"/>
                  </a:solidFill>
                  <a:latin typeface="+mn-lt"/>
                  <a:ea typeface="+mn-ea"/>
                  <a:cs typeface="+mn-cs"/>
                </a:rPr>
                <a:t>可編輯 PPTX</a:t>
              </a:r>
            </a:p>
          </p:txBody>
        </p:sp>
      </p:grpSp>
      <p:grpSp>
        <p:nvGrpSpPr>
          <p:cNvPr id="8" name="ask-support"/>
          <p:cNvGrpSpPr/>
          <p:nvPr/>
        </p:nvGrpSpPr>
        <p:grpSpPr>
          <a:xfrm>
            <a:off x="1210818" y="3314700"/>
            <a:ext cx="7488715" cy="322707"/>
            <a:chOff x="1210818" y="3314700"/>
            <a:chExt cx="7488715" cy="322707"/>
          </a:xfrm>
        </p:grpSpPr>
        <p:sp>
          <p:nvSpPr>
            <p:cNvPr id="7" name="TextBox 7"/>
            <p:cNvSpPr txBox="1"/>
            <p:nvPr/>
          </p:nvSpPr>
          <p:spPr>
            <a:xfrm>
              <a:off x="1210818" y="3314700"/>
              <a:ext cx="7488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4F1EC"/>
                  </a:solidFill>
                  <a:latin typeface="+mj-lt"/>
                  <a:ea typeface="+mj-ea"/>
                  <a:cs typeface="+mj-cs"/>
                </a:rPr>
                <a:t>Please issue the next committee pack as an editable PPTX before the next meeting</a:t>
              </a:r>
            </a:p>
          </p:txBody>
        </p:sp>
      </p:grpSp>
      <p:grpSp>
        <p:nvGrpSpPr>
          <p:cNvPr id="10" name="ask-action"/>
          <p:cNvGrpSpPr/>
          <p:nvPr/>
        </p:nvGrpSpPr>
        <p:grpSpPr>
          <a:xfrm>
            <a:off x="1210056" y="3937000"/>
            <a:ext cx="5618988" cy="1114044"/>
            <a:chOff x="1210056" y="3937000"/>
            <a:chExt cx="5618988" cy="1114044"/>
          </a:xfrm>
        </p:grpSpPr>
        <p:sp>
          <p:nvSpPr>
            <p:cNvPr id="9" name="TextBox 9"/>
            <p:cNvSpPr txBox="1"/>
            <p:nvPr/>
          </p:nvSpPr>
          <p:spPr>
            <a:xfrm>
              <a:off x="1210056" y="3937000"/>
              <a:ext cx="5618988" cy="1114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建議秘書處於下次會議前，按本範本產出可編輯 PPTX。</a:t>
              </a:r>
              <a:b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檔案共四頁，限時八分鐘。</a:t>
              </a:r>
              <a:b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HK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 2026 年 10 月 28 日起作為委員會文件的交付標準。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13104" y="6184900"/>
            <a:ext cx="1759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K" sz="1200" dirty="0">
                <a:solidFill>
                  <a:srgbClr val="D5D0C8"/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k_committee_paper">
  <a:themeElements>
    <a:clrScheme name="hk_committee_pape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hk_committee_paper">
      <a:majorFont>
        <a:latin typeface="Calibri"/>
        <a:ea typeface="Microsoft JhengHei"/>
        <a:cs typeface="Calibr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Microsoft JhengHe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k_committee_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zh-HK</dc:language>
  <cp:lastModifiedBy/>
  <cp:revision>1</cp:revision>
  <dcterms:created xsi:type="dcterms:W3CDTF">2026-10-28T06:46:02Z</dcterms:created>
  <dcterms:modified xsi:type="dcterms:W3CDTF">2026-10-28T06:46:02Z</dcterms:modified>
  <cp:category/>
  <cp:contentStatus/>
</cp:coreProperties>
</file>